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pacing: calm, measured, deliberate. pause for 2 full seconds after advancing to this slide before speaking.</a:t>
            </a:r>
          </a:p>
          <a:p/>
          <a:p>
            <a:r>
              <a:t>talking points:</a:t>
            </a:r>
          </a:p>
          <a:p>
            <a:r>
              <a:t>• do not introduce the product yet. do not mention features or apps.</a:t>
            </a:r>
          </a:p>
          <a:p>
            <a:r>
              <a:t>• connect directly with the student builders in the room: 'everyone in this room chose to be here because you want to make something meaningful during college.'</a:t>
            </a:r>
          </a:p>
          <a:p>
            <a:r>
              <a:t>• confront the unspoken campus reality: 'you look around your campus and the potential is staggering. thousands of smart people, hackathons, clubs, labs, ideas sketched in late-night conversations.'</a:t>
            </a:r>
          </a:p>
          <a:p>
            <a:r>
              <a:t>• drop the hook: 'yet at the end of four years, most of the things students intended to build never made it past a notes app or a dead group chat.'</a:t>
            </a:r>
          </a:p>
          <a:p>
            <a:r>
              <a:t>• transition: 'today we want to talk about why that happens—and what we're building to fix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pacing: direct, empathetic, diagnosing the exact pain without sounding preachy.</a:t>
            </a:r>
          </a:p>
          <a:p/>
          <a:p>
            <a:r>
              <a:t>talking points:</a:t>
            </a:r>
          </a:p>
          <a:p>
            <a:r>
              <a:t>• break the myth of lack of motivation: students do not fail to execute because they're lazy; they fail because the friction of coordinating is overwhelmingly high.</a:t>
            </a:r>
          </a:p>
          <a:p>
            <a:r>
              <a:t>• walk through the 4 failure modes:</a:t>
            </a:r>
          </a:p>
          <a:p>
            <a:r>
              <a:t>  1. talk vs execution: 'everyone has a group chat that was created for a hackathon or a startup idea that died at message 87.'</a:t>
            </a:r>
          </a:p>
          <a:p>
            <a:r>
              <a:t>  2. social isolation: 'knowing 50 people in a lecture hall doesn't mean having one person who will sit down and grind a prototype with you on a friday night.'</a:t>
            </a:r>
          </a:p>
          <a:p>
            <a:r>
              <a:t>  3. accountability vacuum: 'working alone in a dorm room almost inevitably collapses into scrolling reels or checking discord.'</a:t>
            </a:r>
          </a:p>
          <a:p>
            <a:r>
              <a:t>  4. coordination fatigue: 'you want to go for a 5k run or explore a new library, but asking five people feels like a logistical chore.'</a:t>
            </a:r>
          </a:p>
          <a:p>
            <a:r>
              <a:t>• conclusion: the campus environment has plenty of ambition, but zero execution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pacing: high clarity, confident conviction, establishing the mental model.</a:t>
            </a:r>
          </a:p>
          <a:p/>
          <a:p>
            <a:r>
              <a:t>talking points:</a:t>
            </a:r>
          </a:p>
          <a:p>
            <a:r>
              <a:t>• deliver the brand anchor: 'find your people.' pause to let it land.</a:t>
            </a:r>
          </a:p>
          <a:p>
            <a:r>
              <a:t>• unpack the core thesis: college life needs an operating system for action.</a:t>
            </a:r>
          </a:p>
          <a:p>
            <a:r>
              <a:t>• explain the analogy: 'think about the two consumer products that changed how people discover each other: tinder and linkedin.'</a:t>
            </a:r>
          </a:p>
          <a:p>
            <a:r>
              <a:t>• break down the synthesis:</a:t>
            </a:r>
          </a:p>
          <a:p>
            <a:r>
              <a:t>  - from tinder, we take low-friction, mutual-intent discovery. you find people who want the same thing right now without the friction of a cold dm.</a:t>
            </a:r>
          </a:p>
          <a:p>
            <a:r>
              <a:t>  - from linkedin, we take focus on capability and ambition: what are you studying? what are you building? what skills do you bring?</a:t>
            </a:r>
          </a:p>
          <a:p>
            <a:r>
              <a:t>  - but here is the critical difference: neither tinder nor linkedin gets people off screens. lockin ends in physical reality. you don't collect connections—you meet, lock in, and 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pacing: grounded, tactile, authentic. emphasize that this is live code, not a mockup.</a:t>
            </a:r>
          </a:p>
          <a:p/>
          <a:p>
            <a:r>
              <a:t>talking points:</a:t>
            </a:r>
          </a:p>
          <a:p>
            <a:r>
              <a:t>• show the real product: 'this isn't a figma concept or an investor prototype. this is running in production right now on lockin.top.'</a:t>
            </a:r>
          </a:p>
          <a:p>
            <a:r>
              <a:t>• explain the 3-beat product loop:</a:t>
            </a:r>
          </a:p>
          <a:p>
            <a:r>
              <a:t>  1. step 01 — discover: you open the feed and see active missions organized by track: academic sprints, hackathon teams, morning gym runs, or deep study sessions.</a:t>
            </a:r>
          </a:p>
          <a:p>
            <a:r>
              <a:t>  2. step 02 — solo or squad: lockin supports both solitary discipline and team collaboration. lock in alone to silence distractions, or recruit teammates with explicit roles.</a:t>
            </a:r>
          </a:p>
          <a:p>
            <a:r>
              <a:t>  3. step 03 — show up &amp; earn grit: you meet on-site, verify attendance, run a synchronized timer, and log real deliverables. your grit score reflects real execution, not vanity follower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pacing: inspiring, open, collegiate, non-transactional. close with conviction.</a:t>
            </a:r>
          </a:p>
          <a:p/>
          <a:p>
            <a:r>
              <a:t>talking points:</a:t>
            </a:r>
          </a:p>
          <a:p>
            <a:r>
              <a:t>• reframe the entire presentation: 'we didn't ask you here to pitch an app. we asked you here because campus culture is shaped by builders.'</a:t>
            </a:r>
          </a:p>
          <a:p>
            <a:r>
              <a:t>• map out the 3 horizons of what lockin is becoming:</a:t>
            </a:r>
          </a:p>
          <a:p>
            <a:r>
              <a:t>  1. grind: replacing procrastination with shared focus and academic momentum.</a:t>
            </a:r>
          </a:p>
          <a:p>
            <a:r>
              <a:t>  2. community: breaking the social bubble so engineers meet designers, freshmen meet senior builders, and genuine friendships form through doing.</a:t>
            </a:r>
          </a:p>
          <a:p>
            <a:r>
              <a:t>  3. missions: turning college into an open arena of challenges, hackathons, physical feats, and campus rituals.</a:t>
            </a:r>
          </a:p>
          <a:p>
            <a:r>
              <a:t>• direct call to action: 'we want you to run the first missions on your campus. take lockin, test it, find bugs, launch your project squad on it, and build this with us.'</a:t>
            </a:r>
          </a:p>
          <a:p>
            <a:r>
              <a:t>• end on: 'stop scrolling. start showing up. find your people at lockin.top.'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82296" cy="82296"/>
          </a:xfrm>
          <a:prstGeom prst="ellipse">
            <a:avLst/>
          </a:prstGeom>
          <a:solidFill>
            <a:srgbClr val="E9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38912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66663"/>
                </a:solidFill>
                <a:latin typeface="JetBrains Mono"/>
              </a:defRPr>
            </a:pPr>
            <a:r>
              <a:t>lockin // vision deck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38912"/>
            <a:ext cx="4144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>
                <a:solidFill>
                  <a:srgbClr val="666663"/>
                </a:solidFill>
                <a:latin typeface="JetBrains Mono"/>
              </a:defRPr>
            </a:pPr>
            <a:r>
              <a:t>[ srm / iitd campus 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109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66663"/>
                </a:solidFill>
                <a:latin typeface="JetBrains Mono"/>
              </a:defRPr>
            </a:pPr>
            <a:r>
              <a:t>four years · thousands of students · countless ideas waiting to happen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27648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E92A42"/>
                </a:solidFill>
                <a:latin typeface="JetBrains Mono"/>
              </a:defRPr>
            </a:pPr>
            <a:r>
              <a:t>find your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728655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400"/>
              </a:spcAft>
              <a:defRPr sz="5600" b="1">
                <a:solidFill>
                  <a:srgbClr val="F4F2EE"/>
                </a:solidFill>
                <a:latin typeface="Space Grotesk"/>
              </a:defRPr>
            </a:pPr>
            <a:r>
              <a:t>college is full of possibilities.</a:t>
            </a:r>
          </a:p>
          <a:p>
            <a:pPr>
              <a:defRPr sz="3200">
                <a:solidFill>
                  <a:srgbClr val="908E8A"/>
                </a:solidFill>
                <a:latin typeface="Space Grotesk"/>
              </a:defRPr>
            </a:pPr>
            <a:r>
              <a:t>but how much of it do we actually do?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49039"/>
            <a:ext cx="1645920" cy="22860"/>
          </a:xfrm>
          <a:prstGeom prst="rect">
            <a:avLst/>
          </a:prstGeom>
          <a:solidFill>
            <a:srgbClr val="E9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82296" cy="82296"/>
          </a:xfrm>
          <a:prstGeom prst="ellipse">
            <a:avLst/>
          </a:prstGeom>
          <a:solidFill>
            <a:srgbClr val="E9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38912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66663"/>
                </a:solidFill>
                <a:latin typeface="JetBrains Mono"/>
              </a:defRPr>
            </a:pPr>
            <a:r>
              <a:t>lockin // vision deck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38912"/>
            <a:ext cx="4144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>
                <a:solidFill>
                  <a:srgbClr val="666663"/>
                </a:solidFill>
                <a:latin typeface="JetBrains Mono"/>
              </a:defRPr>
            </a:pPr>
            <a:r>
              <a:t>[ the student friction 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109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66663"/>
                </a:solidFill>
                <a:latin typeface="JetBrains Mono"/>
              </a:defRPr>
            </a:pPr>
            <a:r>
              <a:t>friction audit · university life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27648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E92A42"/>
                </a:solidFill>
                <a:latin typeface="JetBrains Mono"/>
              </a:defRPr>
            </a:pPr>
            <a:r>
              <a:t>find your people.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115568"/>
            <a:ext cx="73152" cy="73152"/>
          </a:xfrm>
          <a:prstGeom prst="ellipse">
            <a:avLst/>
          </a:prstGeom>
          <a:solidFill>
            <a:srgbClr val="E9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051560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E92A42"/>
                </a:solidFill>
                <a:latin typeface="JetBrains Mono"/>
              </a:defRPr>
            </a:pPr>
            <a:r>
              <a:t>root cause diagnosis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4F2EE"/>
                </a:solidFill>
                <a:latin typeface="Space Grotesk"/>
              </a:defRPr>
            </a:pPr>
            <a:r>
              <a:t>good ideas rarely happen on their 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40280"/>
            <a:ext cx="5230368" cy="1600200"/>
          </a:xfrm>
          <a:prstGeom prst="roundRect">
            <a:avLst/>
          </a:prstGeom>
          <a:solidFill>
            <a:srgbClr val="0C0C0C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441448"/>
            <a:ext cx="4718304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E92A42"/>
                </a:solidFill>
                <a:latin typeface="JetBrains Mono"/>
              </a:defRPr>
            </a:pPr>
            <a:r>
              <a:t>01 / talk vs execution</a:t>
            </a:r>
          </a:p>
          <a:p>
            <a:pPr>
              <a:spcAft>
                <a:spcPts val="600"/>
              </a:spcAft>
              <a:defRPr sz="1400" b="1">
                <a:solidFill>
                  <a:srgbClr val="F4F2EE"/>
                </a:solidFill>
                <a:latin typeface="Space Grotesk"/>
              </a:defRPr>
            </a:pPr>
            <a:r>
              <a:t>the project you keep talking about but never start</a:t>
            </a:r>
          </a:p>
          <a:p>
            <a:pPr>
              <a:defRPr sz="1050">
                <a:solidFill>
                  <a:srgbClr val="908E8A"/>
                </a:solidFill>
                <a:latin typeface="Space Grotesk"/>
              </a:defRPr>
            </a:pPr>
            <a:r>
              <a:t>hackathon ideas and side builds that stall in group chats with 87 messages and zero lines of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2240280"/>
            <a:ext cx="5230368" cy="1600200"/>
          </a:xfrm>
          <a:prstGeom prst="roundRect">
            <a:avLst/>
          </a:prstGeom>
          <a:solidFill>
            <a:srgbClr val="0C0C0C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441448"/>
            <a:ext cx="4718304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E92A42"/>
                </a:solidFill>
                <a:latin typeface="JetBrains Mono"/>
              </a:defRPr>
            </a:pPr>
            <a:r>
              <a:t>02 / social isolation</a:t>
            </a:r>
          </a:p>
          <a:p>
            <a:pPr>
              <a:spcAft>
                <a:spcPts val="600"/>
              </a:spcAft>
              <a:defRPr sz="1400" b="1">
                <a:solidFill>
                  <a:srgbClr val="F4F2EE"/>
                </a:solidFill>
                <a:latin typeface="Space Grotesk"/>
              </a:defRPr>
            </a:pPr>
            <a:r>
              <a:t>the people you want to meet but never quite find</a:t>
            </a:r>
          </a:p>
          <a:p>
            <a:pPr>
              <a:defRPr sz="1050">
                <a:solidFill>
                  <a:srgbClr val="908E8A"/>
                </a:solidFill>
                <a:latin typeface="Space Grotesk"/>
              </a:defRPr>
            </a:pPr>
            <a:r>
              <a:t>knowing 50 classmates in large lectures is not the same as having someone on your exact creative wavelength.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5230368" cy="1600200"/>
          </a:xfrm>
          <a:prstGeom prst="roundRect">
            <a:avLst/>
          </a:prstGeom>
          <a:solidFill>
            <a:srgbClr val="0C0C0C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178807"/>
            <a:ext cx="4718304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E92A42"/>
                </a:solidFill>
                <a:latin typeface="JetBrains Mono"/>
              </a:defRPr>
            </a:pPr>
            <a:r>
              <a:t>03 / accountability vacuum</a:t>
            </a:r>
          </a:p>
          <a:p>
            <a:pPr>
              <a:spcAft>
                <a:spcPts val="600"/>
              </a:spcAft>
              <a:defRPr sz="1400" b="1">
                <a:solidFill>
                  <a:srgbClr val="F4F2EE"/>
                </a:solidFill>
                <a:latin typeface="Space Grotesk"/>
              </a:defRPr>
            </a:pPr>
            <a:r>
              <a:t>the study session that keeps getting postponed</a:t>
            </a:r>
          </a:p>
          <a:p>
            <a:pPr>
              <a:defRPr sz="1050">
                <a:solidFill>
                  <a:srgbClr val="908E8A"/>
                </a:solidFill>
                <a:latin typeface="Space Grotesk"/>
              </a:defRPr>
            </a:pPr>
            <a:r>
              <a:t>promising to study alone in a dorm room, then losing five hours to passive scrolling and fragmented attention.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3977639"/>
            <a:ext cx="5230368" cy="1600200"/>
          </a:xfrm>
          <a:prstGeom prst="roundRect">
            <a:avLst/>
          </a:prstGeom>
          <a:solidFill>
            <a:srgbClr val="0C0C0C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4178807"/>
            <a:ext cx="4718304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E92A42"/>
                </a:solidFill>
                <a:latin typeface="JetBrains Mono"/>
              </a:defRPr>
            </a:pPr>
            <a:r>
              <a:t>04 / coordination fatigue</a:t>
            </a:r>
          </a:p>
          <a:p>
            <a:pPr>
              <a:spcAft>
                <a:spcPts val="600"/>
              </a:spcAft>
              <a:defRPr sz="1400" b="1">
                <a:solidFill>
                  <a:srgbClr val="F4F2EE"/>
                </a:solidFill>
                <a:latin typeface="Space Grotesk"/>
              </a:defRPr>
            </a:pPr>
            <a:r>
              <a:t>the things you want to try but don't want to do alone</a:t>
            </a:r>
          </a:p>
          <a:p>
            <a:pPr>
              <a:defRPr sz="1050">
                <a:solidFill>
                  <a:srgbClr val="908E8A"/>
                </a:solidFill>
                <a:latin typeface="Space Grotesk"/>
              </a:defRPr>
            </a:pPr>
            <a:r>
              <a:t>gym workouts, 5km track runs, paper submissions, and side quests that fade without a concrete partner.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15000"/>
            <a:ext cx="10728655" cy="384048"/>
          </a:xfrm>
          <a:prstGeom prst="roundRect">
            <a:avLst/>
          </a:prstGeom>
          <a:solidFill>
            <a:srgbClr val="090909"/>
          </a:solidFill>
          <a:ln w="12700">
            <a:solidFill>
              <a:srgbClr val="28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779008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F4F2EE"/>
                </a:solidFill>
                <a:latin typeface="Space Grotesk"/>
              </a:defRPr>
            </a:pPr>
            <a:r>
              <a:t>the barrier isn't ambition: discovery, compatibility, and follow-through are fragmented across dead group chats, stale dms, and disconnected feeds.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5779008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E92A42"/>
                </a:solidFill>
                <a:latin typeface="JetBrains Mono"/>
              </a:defRPr>
            </a:pPr>
            <a:r>
              <a:t>[ 0% output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82296" cy="82296"/>
          </a:xfrm>
          <a:prstGeom prst="ellipse">
            <a:avLst/>
          </a:prstGeom>
          <a:solidFill>
            <a:srgbClr val="E9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38912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66663"/>
                </a:solidFill>
                <a:latin typeface="JetBrains Mono"/>
              </a:defRPr>
            </a:pPr>
            <a:r>
              <a:t>lockin // vision deck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38912"/>
            <a:ext cx="4144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>
                <a:solidFill>
                  <a:srgbClr val="666663"/>
                </a:solidFill>
                <a:latin typeface="JetBrains Mono"/>
              </a:defRPr>
            </a:pPr>
            <a:r>
              <a:t>[ the core thesis 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109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66663"/>
                </a:solidFill>
                <a:latin typeface="JetBrains Mono"/>
              </a:defRPr>
            </a:pPr>
            <a:r>
              <a:t>stop scrolling. start showing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27648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E92A42"/>
                </a:solidFill>
                <a:latin typeface="JetBrains Mono"/>
              </a:defRPr>
            </a:pPr>
            <a:r>
              <a:t>find your people.</a:t>
            </a:r>
          </a:p>
        </p:txBody>
      </p:sp>
      <p:pic>
        <p:nvPicPr>
          <p:cNvPr id="9" name="Picture 8" descr="lockin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910" y="1234440"/>
            <a:ext cx="822960" cy="658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2011680"/>
            <a:ext cx="1072865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5600" b="1">
                <a:solidFill>
                  <a:srgbClr val="F4F2EE"/>
                </a:solidFill>
                <a:latin typeface="Space Grotesk"/>
              </a:defRPr>
            </a:pPr>
            <a:r>
              <a:t>find your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94484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>
                <a:solidFill>
                  <a:srgbClr val="908E8A"/>
                </a:solidFill>
                <a:latin typeface="Space Grotesk"/>
              </a:defRPr>
            </a:pPr>
            <a:r>
              <a:t>lockin helps you find things to do, people to do them with, and the momentum to actually get started.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611880"/>
            <a:ext cx="9997135" cy="2331720"/>
          </a:xfrm>
          <a:prstGeom prst="roundRect">
            <a:avLst/>
          </a:prstGeom>
          <a:solidFill>
            <a:srgbClr val="0C0C0C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79476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E92A42"/>
                </a:solidFill>
                <a:latin typeface="JetBrains Mono"/>
              </a:defRPr>
            </a:pPr>
            <a:r>
              <a:t>tinder × linkedin — but for college life.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794760"/>
            <a:ext cx="39620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>
                <a:solidFill>
                  <a:srgbClr val="666663"/>
                </a:solidFill>
                <a:latin typeface="JetBrains Mono"/>
              </a:defRPr>
            </a:pPr>
            <a:r>
              <a:t>the discovery + intent equation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114800"/>
            <a:ext cx="9448495" cy="109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279392"/>
            <a:ext cx="292608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66663"/>
                </a:solidFill>
                <a:latin typeface="JetBrains Mono"/>
              </a:defRPr>
            </a:pPr>
            <a:r>
              <a:t>01 / discovery mechanic</a:t>
            </a:r>
          </a:p>
          <a:p>
            <a:pPr>
              <a:spcAft>
                <a:spcPts val="600"/>
              </a:spcAft>
              <a:defRPr sz="1350" b="1">
                <a:solidFill>
                  <a:srgbClr val="F4F2EE"/>
                </a:solidFill>
                <a:latin typeface="Space Grotesk"/>
              </a:defRPr>
            </a:pPr>
            <a:r>
              <a:t>discovery without awkwardness</a:t>
            </a:r>
          </a:p>
          <a:p>
            <a:pPr>
              <a:defRPr sz="1000">
                <a:solidFill>
                  <a:srgbClr val="908E8A"/>
                </a:solidFill>
                <a:latin typeface="Space Grotesk"/>
              </a:defRPr>
            </a:pPr>
            <a:r>
              <a:t>borrowing tinder's zero-friction mechanism to find people on your wavelength without cold approaches or social anxiety.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4279392"/>
            <a:ext cx="292608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66663"/>
                </a:solidFill>
                <a:latin typeface="JetBrains Mono"/>
              </a:defRPr>
            </a:pPr>
            <a:r>
              <a:t>02 / shared intent</a:t>
            </a:r>
          </a:p>
          <a:p>
            <a:pPr>
              <a:spcAft>
                <a:spcPts val="600"/>
              </a:spcAft>
              <a:defRPr sz="1350" b="1">
                <a:solidFill>
                  <a:srgbClr val="F4F2EE"/>
                </a:solidFill>
                <a:latin typeface="Space Grotesk"/>
              </a:defRPr>
            </a:pPr>
            <a:r>
              <a:t>alignment around ambition</a:t>
            </a:r>
          </a:p>
          <a:p>
            <a:pPr>
              <a:defRPr sz="1000">
                <a:solidFill>
                  <a:srgbClr val="908E8A"/>
                </a:solidFill>
                <a:latin typeface="Space Grotesk"/>
              </a:defRPr>
            </a:pPr>
            <a:r>
              <a:t>borrowing linkedin's project and skill focus: connecting around building, studying, and shipping rather than superficial profiles.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4279392"/>
            <a:ext cx="292608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66663"/>
                </a:solidFill>
                <a:latin typeface="JetBrains Mono"/>
              </a:defRPr>
            </a:pPr>
            <a:r>
              <a:t>03 / real-world action</a:t>
            </a:r>
          </a:p>
          <a:p>
            <a:pPr>
              <a:spcAft>
                <a:spcPts val="600"/>
              </a:spcAft>
              <a:defRPr sz="1350" b="1">
                <a:solidFill>
                  <a:srgbClr val="F4F2EE"/>
                </a:solidFill>
                <a:latin typeface="Space Grotesk"/>
              </a:defRPr>
            </a:pPr>
            <a:r>
              <a:t>turning discovery into doing</a:t>
            </a:r>
          </a:p>
          <a:p>
            <a:pPr>
              <a:defRPr sz="1000">
                <a:solidFill>
                  <a:srgbClr val="908E8A"/>
                </a:solidFill>
                <a:latin typeface="Space Grotesk"/>
              </a:defRPr>
            </a:pPr>
            <a:r>
              <a:t>lockin's breakthrough: not another messaging thread, but a shared timer, an in-person check-in, and verified proof of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82296" cy="82296"/>
          </a:xfrm>
          <a:prstGeom prst="ellipse">
            <a:avLst/>
          </a:prstGeom>
          <a:solidFill>
            <a:srgbClr val="E9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38912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66663"/>
                </a:solidFill>
                <a:latin typeface="JetBrains Mono"/>
              </a:defRPr>
            </a:pPr>
            <a:r>
              <a:t>lockin // vision deck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38912"/>
            <a:ext cx="4144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>
                <a:solidFill>
                  <a:srgbClr val="666663"/>
                </a:solidFill>
                <a:latin typeface="JetBrains Mono"/>
              </a:defRPr>
            </a:pPr>
            <a:r>
              <a:t>[ the live application 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109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66663"/>
                </a:solidFill>
                <a:latin typeface="JetBrains Mono"/>
              </a:defRPr>
            </a:pPr>
            <a:r>
              <a:t>production interface · next.js 15 · supabase realtime · lockin.top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27648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E92A42"/>
                </a:solidFill>
                <a:latin typeface="JetBrains Mono"/>
              </a:defRPr>
            </a:pPr>
            <a:r>
              <a:t>find your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0584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4F2EE"/>
                </a:solidFill>
                <a:latin typeface="Space Grotesk"/>
              </a:defRPr>
            </a:pPr>
            <a:r>
              <a:t>from intention to action.</a:t>
            </a:r>
          </a:p>
          <a:p>
            <a:pPr>
              <a:defRPr sz="1400">
                <a:solidFill>
                  <a:srgbClr val="908E8A"/>
                </a:solidFill>
                <a:latin typeface="Space Grotesk"/>
              </a:defRPr>
            </a:pPr>
            <a:r>
              <a:t>the mission is the atomic unit of the product.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097280"/>
            <a:ext cx="1584655" cy="320040"/>
          </a:xfrm>
          <a:prstGeom prst="roundRect">
            <a:avLst/>
          </a:prstGeom>
          <a:solidFill>
            <a:srgbClr val="1C0A0E"/>
          </a:solidFill>
          <a:ln w="12700">
            <a:solidFill>
              <a:srgbClr val="50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1143000"/>
            <a:ext cx="1584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E92A42"/>
                </a:solidFill>
                <a:latin typeface="JetBrains Mono"/>
              </a:defRPr>
            </a:pPr>
            <a:r>
              <a:t>● live on lockin.top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332841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92A42"/>
                </a:solidFill>
                <a:latin typeface="JetBrains Mono"/>
              </a:defRPr>
            </a:pPr>
            <a:r>
              <a:t>step 01</a:t>
            </a:r>
          </a:p>
          <a:p>
            <a:pPr>
              <a:spcAft>
                <a:spcPts val="400"/>
              </a:spcAft>
              <a:defRPr sz="1600" b="1">
                <a:solidFill>
                  <a:srgbClr val="F4F2EE"/>
                </a:solidFill>
                <a:latin typeface="Space Grotesk"/>
              </a:defRPr>
            </a:pPr>
            <a:r>
              <a:t>discover</a:t>
            </a:r>
          </a:p>
          <a:p>
            <a:pPr>
              <a:defRPr sz="1000">
                <a:solidFill>
                  <a:srgbClr val="908E8A"/>
                </a:solidFill>
                <a:latin typeface="Space Grotesk"/>
              </a:defRPr>
            </a:pPr>
            <a:r>
              <a:t>find missions, categories, study tracks, and real opportunities worth showing up for.</a:t>
            </a:r>
          </a:p>
        </p:txBody>
      </p:sp>
      <p:pic>
        <p:nvPicPr>
          <p:cNvPr id="13" name="Picture 12" descr="screen_1_dis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71800"/>
            <a:ext cx="3328416" cy="66568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25696" y="1920240"/>
            <a:ext cx="332841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92A42"/>
                </a:solidFill>
                <a:latin typeface="JetBrains Mono"/>
              </a:defRPr>
            </a:pPr>
            <a:r>
              <a:t>step 02</a:t>
            </a:r>
          </a:p>
          <a:p>
            <a:pPr>
              <a:spcAft>
                <a:spcPts val="400"/>
              </a:spcAft>
              <a:defRPr sz="1600" b="1">
                <a:solidFill>
                  <a:srgbClr val="F4F2EE"/>
                </a:solidFill>
                <a:latin typeface="Space Grotesk"/>
              </a:defRPr>
            </a:pPr>
            <a:r>
              <a:t>do it solo or together</a:t>
            </a:r>
          </a:p>
          <a:p>
            <a:pPr>
              <a:defRPr sz="1000">
                <a:solidFill>
                  <a:srgbClr val="908E8A"/>
                </a:solidFill>
                <a:latin typeface="Space Grotesk"/>
              </a:defRPr>
            </a:pPr>
            <a:r>
              <a:t>lock in independently for deep focus, or recruit a builder squad with confirmed check-in slots.</a:t>
            </a:r>
          </a:p>
        </p:txBody>
      </p:sp>
      <p:pic>
        <p:nvPicPr>
          <p:cNvPr id="15" name="Picture 14" descr="screen_2_collabo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2971800"/>
            <a:ext cx="3328416" cy="66568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19872" y="1920240"/>
            <a:ext cx="332841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92A42"/>
                </a:solidFill>
                <a:latin typeface="JetBrains Mono"/>
              </a:defRPr>
            </a:pPr>
            <a:r>
              <a:t>step 03</a:t>
            </a:r>
          </a:p>
          <a:p>
            <a:pPr>
              <a:spcAft>
                <a:spcPts val="400"/>
              </a:spcAft>
              <a:defRPr sz="1600" b="1">
                <a:solidFill>
                  <a:srgbClr val="F4F2EE"/>
                </a:solidFill>
                <a:latin typeface="Space Grotesk"/>
              </a:defRPr>
            </a:pPr>
            <a:r>
              <a:t>show up</a:t>
            </a:r>
          </a:p>
          <a:p>
            <a:pPr>
              <a:defRPr sz="1000">
                <a:solidFill>
                  <a:srgbClr val="908E8A"/>
                </a:solidFill>
                <a:latin typeface="Space Grotesk"/>
              </a:defRPr>
            </a:pPr>
            <a:r>
              <a:t>execute with a timed sprint, verify in-person attendance, and stack proof to your grit record.</a:t>
            </a:r>
          </a:p>
        </p:txBody>
      </p:sp>
      <p:pic>
        <p:nvPicPr>
          <p:cNvPr id="17" name="Picture 16" descr="screen_3_exec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2971800"/>
            <a:ext cx="3328416" cy="6656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82296" cy="82296"/>
          </a:xfrm>
          <a:prstGeom prst="ellipse">
            <a:avLst/>
          </a:prstGeom>
          <a:solidFill>
            <a:srgbClr val="E9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38912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66663"/>
                </a:solidFill>
                <a:latin typeface="JetBrains Mono"/>
              </a:defRPr>
            </a:pPr>
            <a:r>
              <a:t>lockin // vision deck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38912"/>
            <a:ext cx="4144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>
                <a:solidFill>
                  <a:srgbClr val="666663"/>
                </a:solidFill>
                <a:latin typeface="JetBrains Mono"/>
              </a:defRPr>
            </a:pPr>
            <a:r>
              <a:t>[ the horizon &amp; invitation 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109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66663"/>
                </a:solidFill>
                <a:latin typeface="JetBrains Mono"/>
              </a:defRPr>
            </a:pPr>
            <a:r>
              <a:t>find your people.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27648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E92A42"/>
                </a:solidFill>
                <a:latin typeface="JetBrains Mono"/>
              </a:defRPr>
            </a:pPr>
            <a:r>
              <a:t>stop scrolling. start showing 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4F2EE"/>
                </a:solidFill>
                <a:latin typeface="Space Grotesk"/>
              </a:defRPr>
            </a:pPr>
            <a:r>
              <a:t>we're building more than an app.</a:t>
            </a:r>
          </a:p>
          <a:p>
            <a:pPr>
              <a:defRPr sz="1600">
                <a:solidFill>
                  <a:srgbClr val="908E8A"/>
                </a:solidFill>
                <a:latin typeface="Space Grotesk"/>
              </a:defRPr>
            </a:pPr>
            <a:r>
              <a:t>we're building a place where more things happen.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3328416" cy="2834640"/>
          </a:xfrm>
          <a:prstGeom prst="roundRect">
            <a:avLst/>
          </a:prstGeom>
          <a:solidFill>
            <a:srgbClr val="0C0C0C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287121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92A42"/>
                </a:solidFill>
                <a:latin typeface="JetBrains Mono"/>
              </a:defRPr>
            </a:pPr>
            <a:r>
              <a:t>horizon 01 / grind</a:t>
            </a:r>
          </a:p>
          <a:p>
            <a:pPr>
              <a:spcAft>
                <a:spcPts val="800"/>
              </a:spcAft>
              <a:defRPr sz="1600" b="1">
                <a:solidFill>
                  <a:srgbClr val="F4F2EE"/>
                </a:solidFill>
                <a:latin typeface="Space Grotesk"/>
              </a:defRPr>
            </a:pPr>
            <a:r>
              <a:t>learning &amp; productivity</a:t>
            </a:r>
          </a:p>
          <a:p>
            <a:pPr>
              <a:spcAft>
                <a:spcPts val="1600"/>
              </a:spcAft>
              <a:defRPr sz="1050">
                <a:solidFill>
                  <a:srgbClr val="908E8A"/>
                </a:solidFill>
                <a:latin typeface="Space Grotesk"/>
              </a:defRPr>
            </a:pPr>
            <a:r>
              <a:t>study groups, midterm blitzes, structured learning challenges, and academic body-doubling that kills procrastination.</a:t>
            </a:r>
          </a:p>
          <a:p>
            <a:pPr>
              <a:defRPr sz="850">
                <a:solidFill>
                  <a:srgbClr val="666663"/>
                </a:solidFill>
                <a:latin typeface="JetBrains Mono"/>
              </a:defRPr>
            </a:pPr>
            <a:r>
              <a:t>[library sessions] · [code sprints] · [exam squads]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2148840"/>
            <a:ext cx="3328416" cy="2834640"/>
          </a:xfrm>
          <a:prstGeom prst="roundRect">
            <a:avLst/>
          </a:prstGeom>
          <a:solidFill>
            <a:srgbClr val="0C0C0C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377440"/>
            <a:ext cx="287121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92A42"/>
                </a:solidFill>
                <a:latin typeface="JetBrains Mono"/>
              </a:defRPr>
            </a:pPr>
            <a:r>
              <a:t>horizon 02 / community</a:t>
            </a:r>
          </a:p>
          <a:p>
            <a:pPr>
              <a:spcAft>
                <a:spcPts val="800"/>
              </a:spcAft>
              <a:defRPr sz="1600" b="1">
                <a:solidFill>
                  <a:srgbClr val="F4F2EE"/>
                </a:solidFill>
                <a:latin typeface="Space Grotesk"/>
              </a:defRPr>
            </a:pPr>
            <a:r>
              <a:t>people &amp; community</a:t>
            </a:r>
          </a:p>
          <a:p>
            <a:pPr>
              <a:spcAft>
                <a:spcPts val="1600"/>
              </a:spcAft>
              <a:defRPr sz="1050">
                <a:solidFill>
                  <a:srgbClr val="908E8A"/>
                </a:solidFill>
                <a:latin typeface="Space Grotesk"/>
              </a:defRPr>
            </a:pPr>
            <a:r>
              <a:t>discovering like-minded peers outside your immediate circle through shared interests, disciplines, and recurring campus rituals.</a:t>
            </a:r>
          </a:p>
          <a:p>
            <a:pPr>
              <a:defRPr sz="850">
                <a:solidFill>
                  <a:srgbClr val="666663"/>
                </a:solidFill>
                <a:latin typeface="JetBrains Mono"/>
              </a:defRPr>
            </a:pPr>
            <a:r>
              <a:t>[peer discovery] · [campus circles] · [skill matching]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2148840"/>
            <a:ext cx="3328416" cy="2834640"/>
          </a:xfrm>
          <a:prstGeom prst="roundRect">
            <a:avLst/>
          </a:prstGeom>
          <a:solidFill>
            <a:srgbClr val="0C0C0C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2377440"/>
            <a:ext cx="287121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92A42"/>
                </a:solidFill>
                <a:latin typeface="JetBrains Mono"/>
              </a:defRPr>
            </a:pPr>
            <a:r>
              <a:t>horizon 03 / action</a:t>
            </a:r>
          </a:p>
          <a:p>
            <a:pPr>
              <a:spcAft>
                <a:spcPts val="800"/>
              </a:spcAft>
              <a:defRPr sz="1600" b="1">
                <a:solidFill>
                  <a:srgbClr val="F4F2EE"/>
                </a:solidFill>
                <a:latin typeface="Space Grotesk"/>
              </a:defRPr>
            </a:pPr>
            <a:r>
              <a:t>missions &amp; experiences</a:t>
            </a:r>
          </a:p>
          <a:p>
            <a:pPr>
              <a:spcAft>
                <a:spcPts val="1600"/>
              </a:spcAft>
              <a:defRPr sz="1050">
                <a:solidFill>
                  <a:srgbClr val="908E8A"/>
                </a:solidFill>
                <a:latin typeface="Space Grotesk"/>
              </a:defRPr>
            </a:pPr>
            <a:r>
              <a:t>collaborative hackathons, product launches, athletic trials, and new ways to bring students together in the physical world.</a:t>
            </a:r>
          </a:p>
          <a:p>
            <a:pPr>
              <a:defRPr sz="850">
                <a:solidFill>
                  <a:srgbClr val="666663"/>
                </a:solidFill>
                <a:latin typeface="JetBrains Mono"/>
              </a:defRPr>
            </a:pPr>
            <a:r>
              <a:t>[hackathons] · [track runs] · [campus drops]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66360"/>
            <a:ext cx="10728655" cy="868680"/>
          </a:xfrm>
          <a:prstGeom prst="roundRect">
            <a:avLst/>
          </a:prstGeom>
          <a:solidFill>
            <a:srgbClr val="090909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in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303520"/>
            <a:ext cx="548640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40" y="5285232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4F2EE"/>
                </a:solidFill>
                <a:latin typeface="Space Grotesk"/>
              </a:defRPr>
            </a:pPr>
            <a:r>
              <a:t>help us build what comes next.</a:t>
            </a:r>
          </a:p>
          <a:p>
            <a:pPr>
              <a:defRPr sz="950">
                <a:solidFill>
                  <a:srgbClr val="908E8A"/>
                </a:solidFill>
                <a:latin typeface="Space Grotesk"/>
              </a:defRPr>
            </a:pPr>
            <a:r>
              <a:t>we're inviting the builders in this room to launch missions, test prototypes, and shape the campus platform.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5394960"/>
            <a:ext cx="1463040" cy="384048"/>
          </a:xfrm>
          <a:prstGeom prst="roundRect">
            <a:avLst/>
          </a:prstGeom>
          <a:solidFill>
            <a:srgbClr val="1C0A0E"/>
          </a:solidFill>
          <a:ln w="12700">
            <a:solidFill>
              <a:srgbClr val="50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5468112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E92A42"/>
                </a:solidFill>
                <a:latin typeface="JetBrains Mono"/>
              </a:defRPr>
            </a:pPr>
            <a:r>
              <a:t>lockin.top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